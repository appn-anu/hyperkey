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69" r:id="rId3"/>
    <p:sldId id="257" r:id="rId4"/>
    <p:sldId id="258" r:id="rId5"/>
    <p:sldId id="259" r:id="rId6"/>
    <p:sldId id="261" r:id="rId7"/>
    <p:sldId id="260" r:id="rId8"/>
    <p:sldId id="267" r:id="rId9"/>
    <p:sldId id="263" r:id="rId10"/>
    <p:sldId id="264" r:id="rId11"/>
    <p:sldId id="266" r:id="rId12"/>
    <p:sldId id="270" r:id="rId13"/>
    <p:sldId id="265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C84EC-AD8A-A966-A35A-4B2FB4701E80}" v="189" dt="2026-03-16T01:38:48.233"/>
    <p1510:client id="{462B14A1-7E45-4A9B-4A51-848B75544588}" v="203" dt="2026-03-16T22:40:55.059"/>
    <p1510:client id="{7204F132-D0F8-AC2F-8176-27451D194F8F}" v="439" dt="2026-03-16T02:18:04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04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94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0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3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1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9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75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3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5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853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0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73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/>
              <a:t>Project </a:t>
            </a:r>
            <a:r>
              <a:rPr lang="en-GB" b="0" err="1"/>
              <a:t>Hyperkey</a:t>
            </a:r>
            <a:endParaRPr lang="en-GB" b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Introduction – Ming Chia, 17/03/26</a:t>
            </a:r>
          </a:p>
        </p:txBody>
      </p:sp>
      <p:pic>
        <p:nvPicPr>
          <p:cNvPr id="4" name="Picture 3" descr="A pixel art of a key&#10;&#10;AI-generated content may be incorrect.">
            <a:extLst>
              <a:ext uri="{FF2B5EF4-FFF2-40B4-BE49-F238E27FC236}">
                <a16:creationId xmlns:a16="http://schemas.microsoft.com/office/drawing/2014/main" id="{93AAAF3B-827B-5140-C372-3D3D26CB3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781" y="543864"/>
            <a:ext cx="5293468" cy="526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7655-B0D8-80A6-D822-C5E08082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before the project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3C4F8-3D9A-970B-9645-6E597F06B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Acknowledgement of Country</a:t>
            </a:r>
            <a:endParaRPr lang="en-US"/>
          </a:p>
          <a:p>
            <a:r>
              <a:rPr lang="en-GB"/>
              <a:t>About the APPN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Facility tour at some point?</a:t>
            </a:r>
          </a:p>
          <a:p>
            <a:r>
              <a:rPr lang="en-GB"/>
              <a:t>Introductions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065D4-3AC8-ECEB-0205-F9BF22E4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3D3F-0DCC-4B1E-A111-CA272E27469E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D4BA7-2121-14DE-9ADB-C1E9F7E64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14552-C358-F0DF-9C32-F3157CFE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</a:t>
            </a:fld>
            <a:endParaRPr lang="en-US"/>
          </a:p>
        </p:txBody>
      </p:sp>
      <p:pic>
        <p:nvPicPr>
          <p:cNvPr id="8" name="Picture 7" descr="A map of australia with blue and green text&#10;&#10;AI-generated content may be incorrect.">
            <a:extLst>
              <a:ext uri="{FF2B5EF4-FFF2-40B4-BE49-F238E27FC236}">
                <a16:creationId xmlns:a16="http://schemas.microsoft.com/office/drawing/2014/main" id="{B6CD6655-51A5-3565-D6F9-8C2F29A0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536" y="875489"/>
            <a:ext cx="5452226" cy="530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5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952D-10C8-8849-9E2F-10CCDC05E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hyperspectral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9FE0-2C0F-F875-E2A5-2C5C448E2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531" y="2306781"/>
            <a:ext cx="2384975" cy="38701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/>
              <a:t>RGB </a:t>
            </a:r>
            <a:endParaRPr lang="en-US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3 wavelengths (low spectral resolution)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Millions of pixels</a:t>
            </a:r>
            <a:br>
              <a:rPr lang="en-GB"/>
            </a:br>
            <a:r>
              <a:rPr lang="en-GB"/>
              <a:t>(high spectral resolution)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D3458-EBFE-B5EE-E872-0D971982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30EF-41C3-4E75-98BC-F6E56061B8B8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37AFE-DCEF-C53F-AA70-23D8A644F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438F1-A7A9-E738-2EB1-08A41413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</a:t>
            </a:fld>
            <a:endParaRPr lang="en-US"/>
          </a:p>
        </p:txBody>
      </p:sp>
      <p:pic>
        <p:nvPicPr>
          <p:cNvPr id="7" name="Picture 6" descr="A drawing of a plant and a pot of colored pencils&#10;&#10;AI-generated content may be incorrect.">
            <a:extLst>
              <a:ext uri="{FF2B5EF4-FFF2-40B4-BE49-F238E27FC236}">
                <a16:creationId xmlns:a16="http://schemas.microsoft.com/office/drawing/2014/main" id="{A2032315-FA93-8744-D056-AE098D6EB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810" y="3042190"/>
            <a:ext cx="5092861" cy="287635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CB66A6-694C-4662-B2BC-4FFAE7B886C9}"/>
              </a:ext>
            </a:extLst>
          </p:cNvPr>
          <p:cNvSpPr txBox="1">
            <a:spLocks/>
          </p:cNvSpPr>
          <p:nvPr/>
        </p:nvSpPr>
        <p:spPr>
          <a:xfrm>
            <a:off x="9072844" y="2310094"/>
            <a:ext cx="2384975" cy="38701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err="1"/>
              <a:t>Hyperspec</a:t>
            </a:r>
            <a:endParaRPr lang="en-US" b="1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700-2000 wavelengths</a:t>
            </a:r>
            <a:br>
              <a:rPr lang="en-GB"/>
            </a:br>
            <a:r>
              <a:rPr lang="en-GB"/>
              <a:t>(high spectral resolution)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1 "pixel"</a:t>
            </a:r>
            <a:br>
              <a:rPr lang="en-GB"/>
            </a:br>
            <a:r>
              <a:rPr lang="en-GB"/>
              <a:t>(no spectral resolution – unless with scanners)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Goes outside human vision (short wave infrared)</a:t>
            </a:r>
            <a:br>
              <a:rPr lang="en-GB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993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4E18-A069-744B-BEC8-A1BF5E9E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do we get these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B3BE2-E68A-AC81-3353-C537E6D6A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Field vs. Lab measurements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169DC-CDF2-1D29-532B-3CF7B7CD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CB1-1331-4EAE-8F51-58E95795F69B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01324-4CCA-B1A8-B354-5155D8E5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2B5CF-9968-AEA1-8CF0-C8D56A93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4</a:t>
            </a:fld>
            <a:endParaRPr lang="en-US"/>
          </a:p>
        </p:txBody>
      </p:sp>
      <p:pic>
        <p:nvPicPr>
          <p:cNvPr id="7" name="Picture 6" descr="A group of people in a field of yellow flowers&#10;&#10;AI-generated content may be incorrect.">
            <a:extLst>
              <a:ext uri="{FF2B5EF4-FFF2-40B4-BE49-F238E27FC236}">
                <a16:creationId xmlns:a16="http://schemas.microsoft.com/office/drawing/2014/main" id="{CB9DE8D8-37DD-51B3-54F9-8D3E95774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335" y="0"/>
            <a:ext cx="5163671" cy="6858000"/>
          </a:xfrm>
          <a:prstGeom prst="rect">
            <a:avLst/>
          </a:prstGeom>
        </p:spPr>
      </p:pic>
      <p:pic>
        <p:nvPicPr>
          <p:cNvPr id="8" name="Picture 7" descr="A computer on a table&#10;&#10;AI-generated content may be incorrect.">
            <a:extLst>
              <a:ext uri="{FF2B5EF4-FFF2-40B4-BE49-F238E27FC236}">
                <a16:creationId xmlns:a16="http://schemas.microsoft.com/office/drawing/2014/main" id="{6D86C0D8-9DD7-2670-3A11-84352C983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43" y="3055696"/>
            <a:ext cx="5021191" cy="373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0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875D-B3F0-2992-9EA0-D700E621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happens to these measurements?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BDC5B-CED8-8666-0193-DF24869F5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620" y="2306781"/>
            <a:ext cx="4655877" cy="38701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ML models with other measurements</a:t>
            </a:r>
            <a:br>
              <a:rPr lang="en-GB"/>
            </a:br>
            <a:r>
              <a:rPr lang="en-GB"/>
              <a:t>(the actual measurements plant scientists are interested in)</a:t>
            </a:r>
          </a:p>
          <a:p>
            <a:r>
              <a:rPr lang="en-GB"/>
              <a:t>e.g. Wheat Predictor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3520D-6A03-8750-A093-7F00B24A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F687-8698-4C23-B884-5E4CB4F094C5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31970-3CC1-893A-CDED-57660F3B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7E55C-EB72-F24B-17F7-A4BC5948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7A47EA-B175-7AF3-9038-9368CB60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88" y="2141316"/>
            <a:ext cx="6568458" cy="3935393"/>
          </a:xfrm>
          <a:prstGeom prst="rect">
            <a:avLst/>
          </a:prstGeom>
        </p:spPr>
      </p:pic>
      <p:pic>
        <p:nvPicPr>
          <p:cNvPr id="8" name="Picture 7" descr="Partnership with the Australian Institute of Machine Learning">
            <a:extLst>
              <a:ext uri="{FF2B5EF4-FFF2-40B4-BE49-F238E27FC236}">
                <a16:creationId xmlns:a16="http://schemas.microsoft.com/office/drawing/2014/main" id="{1E2F2A9D-B8D1-A1CA-6002-7CA41DE9AB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15" t="10822" r="11715" b="13190"/>
          <a:stretch>
            <a:fillRect/>
          </a:stretch>
        </p:blipFill>
        <p:spPr>
          <a:xfrm>
            <a:off x="2784443" y="4240695"/>
            <a:ext cx="1860353" cy="183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9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298C-EDC7-9440-B322-63CE214C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0411-66E1-7271-E34F-1853141A8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 we use these measurements?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B028B-BEB9-578B-8451-C4889EA88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Working towards remote sensing</a:t>
            </a:r>
          </a:p>
          <a:p>
            <a:r>
              <a:rPr lang="en-GB"/>
              <a:t>Faster</a:t>
            </a:r>
          </a:p>
          <a:p>
            <a:r>
              <a:rPr lang="en-GB"/>
              <a:t>Non-destructive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2F30D-720A-02A9-5B98-81A9D6A16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F687-8698-4C23-B884-5E4CB4F094C5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D44CC-3D77-28A3-1727-9BC56E509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F2C45-12F8-3347-5589-461E172B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8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1EBF-96A0-A6FE-F4F7-81351603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measurement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750D2-98C6-E827-42C4-795714C41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Operator error (e.g. insufficient leaf area)</a:t>
            </a:r>
          </a:p>
          <a:p>
            <a:r>
              <a:rPr lang="en-GB"/>
              <a:t>Instrument error (instrument lamp off)</a:t>
            </a:r>
          </a:p>
          <a:p>
            <a:r>
              <a:rPr lang="en-GB"/>
              <a:t>Environmental bias (plants sprayed, lots of dew)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91D78-5761-50ED-B6A8-C87CB643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C1F6C-EDD1-4D3A-8020-8C98316689BB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A1E6F-CC72-82C5-FA0D-857ECAE7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D9CAB-1CA6-EAD3-2147-1E664DB9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20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727B-8C15-A771-7880-25F0A1B5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5B66-B553-5CE4-10F2-468004B5E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core </a:t>
            </a:r>
            <a:r>
              <a:rPr lang="en-GB" err="1"/>
              <a:t>HyperKey</a:t>
            </a:r>
            <a:r>
              <a:rPr lang="en-GB"/>
              <a:t> layout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0F1D7-127A-693F-A04C-C12DF8E82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C1F6C-EDD1-4D3A-8020-8C98316689BB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E266F-6779-4D2E-E5EF-44E002312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0D6C0-E45C-2C49-3F4A-5C175103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8</a:t>
            </a:fld>
            <a:endParaRPr lang="en-US"/>
          </a:p>
        </p:txBody>
      </p:sp>
      <p:pic>
        <p:nvPicPr>
          <p:cNvPr id="8" name="Graphic 7" descr="Paper with solid fill">
            <a:extLst>
              <a:ext uri="{FF2B5EF4-FFF2-40B4-BE49-F238E27FC236}">
                <a16:creationId xmlns:a16="http://schemas.microsoft.com/office/drawing/2014/main" id="{54A5F33A-0935-9CAF-4351-509F9D5E8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13213" y="2433430"/>
            <a:ext cx="914400" cy="914400"/>
          </a:xfrm>
          <a:prstGeom prst="rect">
            <a:avLst/>
          </a:prstGeom>
        </p:spPr>
      </p:pic>
      <p:pic>
        <p:nvPicPr>
          <p:cNvPr id="11" name="Graphic 10" descr="Paper with solid fill">
            <a:extLst>
              <a:ext uri="{FF2B5EF4-FFF2-40B4-BE49-F238E27FC236}">
                <a16:creationId xmlns:a16="http://schemas.microsoft.com/office/drawing/2014/main" id="{F6BB91AA-DE21-4B1D-9B46-8B33C3F50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0995" y="2673625"/>
            <a:ext cx="914400" cy="914400"/>
          </a:xfrm>
          <a:prstGeom prst="rect">
            <a:avLst/>
          </a:prstGeom>
        </p:spPr>
      </p:pic>
      <p:pic>
        <p:nvPicPr>
          <p:cNvPr id="12" name="Graphic 11" descr="Paper with solid fill">
            <a:extLst>
              <a:ext uri="{FF2B5EF4-FFF2-40B4-BE49-F238E27FC236}">
                <a16:creationId xmlns:a16="http://schemas.microsoft.com/office/drawing/2014/main" id="{5177F86E-BCA0-AA65-721E-93A8318EA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1908" y="2930385"/>
            <a:ext cx="914400" cy="914400"/>
          </a:xfrm>
          <a:prstGeom prst="rect">
            <a:avLst/>
          </a:prstGeom>
        </p:spPr>
      </p:pic>
      <p:pic>
        <p:nvPicPr>
          <p:cNvPr id="13" name="Graphic 12" descr="Table with solid fill">
            <a:extLst>
              <a:ext uri="{FF2B5EF4-FFF2-40B4-BE49-F238E27FC236}">
                <a16:creationId xmlns:a16="http://schemas.microsoft.com/office/drawing/2014/main" id="{C0A6D5BC-F68A-63C7-A94B-8EB9ADA6D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6148" y="4512365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5D2879-F48B-E20F-10A6-6EC8D3DC657B}"/>
              </a:ext>
            </a:extLst>
          </p:cNvPr>
          <p:cNvSpPr txBox="1"/>
          <p:nvPr/>
        </p:nvSpPr>
        <p:spPr>
          <a:xfrm>
            <a:off x="2973456" y="3992218"/>
            <a:ext cx="745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b="1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0ED3D4-80BB-BBF0-B97D-971F7C857BE0}"/>
              </a:ext>
            </a:extLst>
          </p:cNvPr>
          <p:cNvSpPr txBox="1"/>
          <p:nvPr/>
        </p:nvSpPr>
        <p:spPr>
          <a:xfrm>
            <a:off x="1399760" y="3056282"/>
            <a:ext cx="12341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/>
              <a:t>Data files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143F39-17DB-89CB-09C6-2175B5B26F35}"/>
              </a:ext>
            </a:extLst>
          </p:cNvPr>
          <p:cNvSpPr txBox="1"/>
          <p:nvPr/>
        </p:nvSpPr>
        <p:spPr>
          <a:xfrm>
            <a:off x="505239" y="4646543"/>
            <a:ext cx="212862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/>
              <a:t>Metadata spreadsheet(s)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ED5E064-51FC-CE0C-C749-EA030E74F709}"/>
              </a:ext>
            </a:extLst>
          </p:cNvPr>
          <p:cNvSpPr/>
          <p:nvPr/>
        </p:nvSpPr>
        <p:spPr>
          <a:xfrm>
            <a:off x="4654825" y="2948608"/>
            <a:ext cx="2791239" cy="2236304"/>
          </a:xfrm>
          <a:custGeom>
            <a:avLst/>
            <a:gdLst>
              <a:gd name="csX0" fmla="*/ 0 w 2791239"/>
              <a:gd name="csY0" fmla="*/ 559076 h 2236304"/>
              <a:gd name="csX1" fmla="*/ 557696 w 2791239"/>
              <a:gd name="csY1" fmla="*/ 559076 h 2236304"/>
              <a:gd name="csX2" fmla="*/ 1065199 w 2791239"/>
              <a:gd name="csY2" fmla="*/ 559076 h 2236304"/>
              <a:gd name="csX3" fmla="*/ 1673087 w 2791239"/>
              <a:gd name="csY3" fmla="*/ 559076 h 2236304"/>
              <a:gd name="csX4" fmla="*/ 1673087 w 2791239"/>
              <a:gd name="csY4" fmla="*/ 0 h 2236304"/>
              <a:gd name="csX5" fmla="*/ 2056986 w 2791239"/>
              <a:gd name="csY5" fmla="*/ 383899 h 2236304"/>
              <a:gd name="csX6" fmla="*/ 2407340 w 2791239"/>
              <a:gd name="csY6" fmla="*/ 734253 h 2236304"/>
              <a:gd name="csX7" fmla="*/ 2791239 w 2791239"/>
              <a:gd name="csY7" fmla="*/ 1118152 h 2236304"/>
              <a:gd name="csX8" fmla="*/ 2440885 w 2791239"/>
              <a:gd name="csY8" fmla="*/ 1468506 h 2236304"/>
              <a:gd name="csX9" fmla="*/ 2056986 w 2791239"/>
              <a:gd name="csY9" fmla="*/ 1852405 h 2236304"/>
              <a:gd name="csX10" fmla="*/ 1673087 w 2791239"/>
              <a:gd name="csY10" fmla="*/ 2236304 h 2236304"/>
              <a:gd name="csX11" fmla="*/ 1673087 w 2791239"/>
              <a:gd name="csY11" fmla="*/ 1677228 h 2236304"/>
              <a:gd name="csX12" fmla="*/ 1165584 w 2791239"/>
              <a:gd name="csY12" fmla="*/ 1677228 h 2236304"/>
              <a:gd name="csX13" fmla="*/ 624619 w 2791239"/>
              <a:gd name="csY13" fmla="*/ 1677228 h 2236304"/>
              <a:gd name="csX14" fmla="*/ 0 w 2791239"/>
              <a:gd name="csY14" fmla="*/ 1677228 h 2236304"/>
              <a:gd name="csX15" fmla="*/ 0 w 2791239"/>
              <a:gd name="csY15" fmla="*/ 1095789 h 2236304"/>
              <a:gd name="csX16" fmla="*/ 0 w 2791239"/>
              <a:gd name="csY16" fmla="*/ 559076 h 22363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91239" h="2236304" fill="none" extrusionOk="0">
                <a:moveTo>
                  <a:pt x="0" y="559076"/>
                </a:moveTo>
                <a:cubicBezTo>
                  <a:pt x="122117" y="541398"/>
                  <a:pt x="319709" y="575018"/>
                  <a:pt x="557696" y="559076"/>
                </a:cubicBezTo>
                <a:cubicBezTo>
                  <a:pt x="795683" y="543134"/>
                  <a:pt x="863334" y="575560"/>
                  <a:pt x="1065199" y="559076"/>
                </a:cubicBezTo>
                <a:cubicBezTo>
                  <a:pt x="1267064" y="542592"/>
                  <a:pt x="1494906" y="538517"/>
                  <a:pt x="1673087" y="559076"/>
                </a:cubicBezTo>
                <a:cubicBezTo>
                  <a:pt x="1655097" y="385882"/>
                  <a:pt x="1682834" y="164093"/>
                  <a:pt x="1673087" y="0"/>
                </a:cubicBezTo>
                <a:cubicBezTo>
                  <a:pt x="1755137" y="71710"/>
                  <a:pt x="1902021" y="191832"/>
                  <a:pt x="2056986" y="383899"/>
                </a:cubicBezTo>
                <a:cubicBezTo>
                  <a:pt x="2211951" y="575966"/>
                  <a:pt x="2295466" y="599464"/>
                  <a:pt x="2407340" y="734253"/>
                </a:cubicBezTo>
                <a:cubicBezTo>
                  <a:pt x="2519214" y="869042"/>
                  <a:pt x="2650991" y="971247"/>
                  <a:pt x="2791239" y="1118152"/>
                </a:cubicBezTo>
                <a:cubicBezTo>
                  <a:pt x="2696276" y="1217702"/>
                  <a:pt x="2528804" y="1372259"/>
                  <a:pt x="2440885" y="1468506"/>
                </a:cubicBezTo>
                <a:cubicBezTo>
                  <a:pt x="2352966" y="1564753"/>
                  <a:pt x="2170663" y="1752657"/>
                  <a:pt x="2056986" y="1852405"/>
                </a:cubicBezTo>
                <a:cubicBezTo>
                  <a:pt x="1943309" y="1952153"/>
                  <a:pt x="1756952" y="2139992"/>
                  <a:pt x="1673087" y="2236304"/>
                </a:cubicBezTo>
                <a:cubicBezTo>
                  <a:pt x="1682228" y="2072029"/>
                  <a:pt x="1654916" y="1863986"/>
                  <a:pt x="1673087" y="1677228"/>
                </a:cubicBezTo>
                <a:cubicBezTo>
                  <a:pt x="1427444" y="1676140"/>
                  <a:pt x="1382396" y="1669361"/>
                  <a:pt x="1165584" y="1677228"/>
                </a:cubicBezTo>
                <a:cubicBezTo>
                  <a:pt x="948772" y="1685095"/>
                  <a:pt x="859362" y="1655215"/>
                  <a:pt x="624619" y="1677228"/>
                </a:cubicBezTo>
                <a:cubicBezTo>
                  <a:pt x="389876" y="1699241"/>
                  <a:pt x="173481" y="1649403"/>
                  <a:pt x="0" y="1677228"/>
                </a:cubicBezTo>
                <a:cubicBezTo>
                  <a:pt x="22894" y="1550577"/>
                  <a:pt x="-8717" y="1227272"/>
                  <a:pt x="0" y="1095789"/>
                </a:cubicBezTo>
                <a:cubicBezTo>
                  <a:pt x="8717" y="964306"/>
                  <a:pt x="16681" y="813914"/>
                  <a:pt x="0" y="559076"/>
                </a:cubicBezTo>
                <a:close/>
              </a:path>
              <a:path w="2791239" h="2236304" stroke="0" extrusionOk="0">
                <a:moveTo>
                  <a:pt x="0" y="559076"/>
                </a:moveTo>
                <a:cubicBezTo>
                  <a:pt x="263820" y="579216"/>
                  <a:pt x="298012" y="554422"/>
                  <a:pt x="540965" y="559076"/>
                </a:cubicBezTo>
                <a:cubicBezTo>
                  <a:pt x="783919" y="563730"/>
                  <a:pt x="847366" y="558895"/>
                  <a:pt x="1065199" y="559076"/>
                </a:cubicBezTo>
                <a:cubicBezTo>
                  <a:pt x="1283032" y="559257"/>
                  <a:pt x="1535992" y="540249"/>
                  <a:pt x="1673087" y="559076"/>
                </a:cubicBezTo>
                <a:cubicBezTo>
                  <a:pt x="1670752" y="351984"/>
                  <a:pt x="1649912" y="218172"/>
                  <a:pt x="1673087" y="0"/>
                </a:cubicBezTo>
                <a:cubicBezTo>
                  <a:pt x="1744017" y="89083"/>
                  <a:pt x="1944043" y="251311"/>
                  <a:pt x="2023441" y="350354"/>
                </a:cubicBezTo>
                <a:cubicBezTo>
                  <a:pt x="2102839" y="449397"/>
                  <a:pt x="2255033" y="601323"/>
                  <a:pt x="2373796" y="700709"/>
                </a:cubicBezTo>
                <a:cubicBezTo>
                  <a:pt x="2492559" y="800095"/>
                  <a:pt x="2602933" y="895539"/>
                  <a:pt x="2791239" y="1118152"/>
                </a:cubicBezTo>
                <a:cubicBezTo>
                  <a:pt x="2698866" y="1192561"/>
                  <a:pt x="2523461" y="1350804"/>
                  <a:pt x="2396159" y="1513232"/>
                </a:cubicBezTo>
                <a:cubicBezTo>
                  <a:pt x="2268857" y="1675660"/>
                  <a:pt x="2137804" y="1802086"/>
                  <a:pt x="2001078" y="1908313"/>
                </a:cubicBezTo>
                <a:cubicBezTo>
                  <a:pt x="1864352" y="2014540"/>
                  <a:pt x="1806370" y="2084956"/>
                  <a:pt x="1673087" y="2236304"/>
                </a:cubicBezTo>
                <a:cubicBezTo>
                  <a:pt x="1651364" y="2006392"/>
                  <a:pt x="1697517" y="1899197"/>
                  <a:pt x="1673087" y="1677228"/>
                </a:cubicBezTo>
                <a:cubicBezTo>
                  <a:pt x="1428899" y="1687522"/>
                  <a:pt x="1281703" y="1684900"/>
                  <a:pt x="1098660" y="1677228"/>
                </a:cubicBezTo>
                <a:cubicBezTo>
                  <a:pt x="915617" y="1669556"/>
                  <a:pt x="640113" y="1705557"/>
                  <a:pt x="524234" y="1677228"/>
                </a:cubicBezTo>
                <a:cubicBezTo>
                  <a:pt x="408355" y="1648899"/>
                  <a:pt x="216269" y="1700157"/>
                  <a:pt x="0" y="1677228"/>
                </a:cubicBezTo>
                <a:cubicBezTo>
                  <a:pt x="-16291" y="1481262"/>
                  <a:pt x="20853" y="1317537"/>
                  <a:pt x="0" y="1095789"/>
                </a:cubicBezTo>
                <a:cubicBezTo>
                  <a:pt x="-20853" y="874041"/>
                  <a:pt x="2309" y="784078"/>
                  <a:pt x="0" y="559076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accent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499211612">
                  <a:prstGeom prst="righ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Graphic 17" descr="Paper with solid fill">
            <a:extLst>
              <a:ext uri="{FF2B5EF4-FFF2-40B4-BE49-F238E27FC236}">
                <a16:creationId xmlns:a16="http://schemas.microsoft.com/office/drawing/2014/main" id="{F86FFC56-DA25-B326-FA09-4CF8EC3B2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1183" y="4512363"/>
            <a:ext cx="914400" cy="914400"/>
          </a:xfrm>
          <a:prstGeom prst="rect">
            <a:avLst/>
          </a:prstGeom>
        </p:spPr>
      </p:pic>
      <p:pic>
        <p:nvPicPr>
          <p:cNvPr id="19" name="Graphic 18" descr="Table with solid fill">
            <a:extLst>
              <a:ext uri="{FF2B5EF4-FFF2-40B4-BE49-F238E27FC236}">
                <a16:creationId xmlns:a16="http://schemas.microsoft.com/office/drawing/2014/main" id="{7B2BA0A9-031A-5628-2EC6-665E94328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185" y="2433430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090E49C-B4F7-2F8A-85E0-5FC94BF9B066}"/>
              </a:ext>
            </a:extLst>
          </p:cNvPr>
          <p:cNvSpPr txBox="1"/>
          <p:nvPr/>
        </p:nvSpPr>
        <p:spPr>
          <a:xfrm>
            <a:off x="7276232" y="2683565"/>
            <a:ext cx="21286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/>
              <a:t>Unified data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CA1B5D-74D5-5B9A-5999-F644087B646F}"/>
              </a:ext>
            </a:extLst>
          </p:cNvPr>
          <p:cNvSpPr txBox="1"/>
          <p:nvPr/>
        </p:nvSpPr>
        <p:spPr>
          <a:xfrm>
            <a:off x="7425319" y="4646542"/>
            <a:ext cx="212862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/>
              <a:t>Formatted visual report(s)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9747F0-158A-8FFE-9146-0AE7485F7AC6}"/>
              </a:ext>
            </a:extLst>
          </p:cNvPr>
          <p:cNvSpPr txBox="1"/>
          <p:nvPr/>
        </p:nvSpPr>
        <p:spPr>
          <a:xfrm>
            <a:off x="9686471" y="4870172"/>
            <a:ext cx="6211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latin typeface="Aptos Display"/>
                <a:ea typeface="Calibri"/>
                <a:cs typeface="Calibri"/>
              </a:rPr>
              <a:t>✨</a:t>
            </a:r>
            <a:endParaRPr lang="en-US">
              <a:latin typeface="Aptos Display"/>
              <a:ea typeface="Calibri"/>
              <a:cs typeface="Calibri"/>
            </a:endParaRPr>
          </a:p>
        </p:txBody>
      </p:sp>
      <p:pic>
        <p:nvPicPr>
          <p:cNvPr id="23" name="Graphic 22" descr="Magic Wand Auto with solid fill">
            <a:extLst>
              <a:ext uri="{FF2B5EF4-FFF2-40B4-BE49-F238E27FC236}">
                <a16:creationId xmlns:a16="http://schemas.microsoft.com/office/drawing/2014/main" id="{BC4CA253-44C8-78C4-631C-F0D02E351D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8996" y="4065105"/>
            <a:ext cx="434009" cy="450574"/>
          </a:xfrm>
          <a:prstGeom prst="rect">
            <a:avLst/>
          </a:prstGeom>
        </p:spPr>
      </p:pic>
      <p:pic>
        <p:nvPicPr>
          <p:cNvPr id="24" name="Graphic 23" descr="Pointed Hat with solid fill">
            <a:extLst>
              <a:ext uri="{FF2B5EF4-FFF2-40B4-BE49-F238E27FC236}">
                <a16:creationId xmlns:a16="http://schemas.microsoft.com/office/drawing/2014/main" id="{09BC5560-89E2-E42C-C682-3DC427779D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960000">
            <a:off x="5069371" y="3537088"/>
            <a:ext cx="914400" cy="914400"/>
          </a:xfrm>
          <a:prstGeom prst="rect">
            <a:avLst/>
          </a:prstGeom>
        </p:spPr>
      </p:pic>
      <p:pic>
        <p:nvPicPr>
          <p:cNvPr id="7" name="Picture 6" descr="A pixel art of a key&#10;&#10;AI-generated content may be incorrect.">
            <a:extLst>
              <a:ext uri="{FF2B5EF4-FFF2-40B4-BE49-F238E27FC236}">
                <a16:creationId xmlns:a16="http://schemas.microsoft.com/office/drawing/2014/main" id="{A26B0122-3587-D581-99A7-F7F97B2DD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80000">
            <a:off x="6068151" y="3567015"/>
            <a:ext cx="779447" cy="74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11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44365-F90E-CD67-9BD7-35611C47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9FB0C-7900-0CA8-D68E-1DC3330A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core </a:t>
            </a:r>
            <a:r>
              <a:rPr lang="en-GB" err="1"/>
              <a:t>HyperKey</a:t>
            </a:r>
            <a:r>
              <a:rPr lang="en-GB"/>
              <a:t> layout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5843-5F3E-4366-5325-E2615BD7C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Data files + metadata spreadsheets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See sample data</a:t>
            </a:r>
          </a:p>
          <a:p>
            <a:r>
              <a:rPr lang="en-GB"/>
              <a:t>Unified data + visual report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Metadata x </a:t>
            </a:r>
            <a:r>
              <a:rPr lang="en-GB" err="1"/>
              <a:t>reflectances</a:t>
            </a:r>
            <a:r>
              <a:rPr lang="en-GB"/>
              <a:t> on one spreadsheet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Check which metadata entries have valid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Heatmap NDVI (for VNIR region) + index for SWIR1/SWIR2 (</a:t>
            </a:r>
            <a:r>
              <a:rPr lang="en-GB" err="1"/>
              <a:t>tbd</a:t>
            </a:r>
            <a:r>
              <a:rPr lang="en-GB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9F2CD-1C4E-86F8-7D72-684B69EC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C1F6C-EDD1-4D3A-8020-8C98316689BB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54B4F-5C45-64A1-89A6-D952423D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E3487-237F-025F-0F9C-51F8B8C6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3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315E4-8218-FDFD-078A-81FC27DEA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5BDA-7A98-FABA-4D03-AAC0F22E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HyperKey</a:t>
            </a:r>
            <a:r>
              <a:rPr lang="en-GB"/>
              <a:t> design principles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FB658-7A6D-062A-867C-D5D5BCF68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Interface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Have more options (with default values)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Document for both tech-oriented and agriculture/biology-oriented users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GB"/>
              <a:t>Immediate users: Biologists with some experience in CLI tools</a:t>
            </a:r>
          </a:p>
          <a:p>
            <a:r>
              <a:rPr lang="en-GB"/>
              <a:t>Visual design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Old-school terminal type elements with more overall </a:t>
            </a:r>
            <a:r>
              <a:rPr lang="en-GB" err="1"/>
              <a:t>color</a:t>
            </a:r>
            <a:endParaRPr lang="en-GB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… while being large enough to share on mobile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Subject to change! Discuss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D35A-8388-41EF-473A-CB9625BC2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C1F6C-EDD1-4D3A-8020-8C98316689BB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82A81-F7E8-10FB-F897-8381D884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21413-C127-312E-5CED-0B35B8E2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4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71029-ED5B-46D4-D202-517B9CC9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35DA-8219-3998-B0B6-EE953B1C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Overall deliverables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FBF01-342D-0546-F2AB-07209FEF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Command line interface program that takes in data/metadata, produces report</a:t>
            </a:r>
          </a:p>
          <a:p>
            <a:r>
              <a:rPr lang="en-GB"/>
              <a:t>(Contributions) Summary promo website</a:t>
            </a:r>
          </a:p>
          <a:p>
            <a:r>
              <a:rPr lang="en-GB"/>
              <a:t>(Optional) GUI wrapper to core program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This is phase 1 – phase 2/3 is a design constraint but getting a head start is likely out of scope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EADE7-9E45-789B-1EB7-1551235F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C1F6C-EDD1-4D3A-8020-8C98316689BB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CAF5A-DAAB-B33F-54BA-FD4C7AA2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BCABD-FCA9-E877-4ACD-0160064C8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72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218E-3872-33A7-2134-FA44EBA5F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do you need?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4C886-443A-7EAE-8A07-331A74EAD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Sample data – 2x SVC files (more later)</a:t>
            </a:r>
          </a:p>
          <a:p>
            <a:r>
              <a:rPr lang="en-GB"/>
              <a:t>SVC manual with file format documentation</a:t>
            </a:r>
          </a:p>
          <a:p>
            <a:r>
              <a:rPr lang="en-GB"/>
              <a:t>Sample metadata sheet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Next week: 1x field metadata, 1x lab metadata, 1x lab metadata + positions</a:t>
            </a:r>
          </a:p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4AAB3-801C-1445-1287-03F453122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B7FD-6134-4AD5-AF9A-9616FB6380FF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0243B-9294-7338-794D-E8BFE07E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2D7D3-044E-61BE-9D82-5745EAF3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5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3633-9887-FB82-0548-7123F554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6853-E4DE-08EC-221A-B99B0F5E1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Goals this week</a:t>
            </a:r>
            <a:r>
              <a:rPr lang="en-US"/>
              <a:t>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A1FCC-CD73-EDC0-40D9-41D4636E3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Rough plan for the year (6 sprints)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Keep in mind assessments!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Realistic goals for 1 day/week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Sprint 5/6 are in field season for us</a:t>
            </a:r>
          </a:p>
          <a:p>
            <a:r>
              <a:rPr lang="en-GB"/>
              <a:t>Research and share anything you need more info 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DEA0-0267-C80F-8C1B-C489EB8D0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C1F6C-EDD1-4D3A-8020-8C98316689BB}" type="datetime1"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44468-DD22-0980-6484-5408817B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8E97C-3359-E2F0-B6B6-FA75AFD4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10341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DylanVTI</vt:lpstr>
      <vt:lpstr>Project Hyperkey</vt:lpstr>
      <vt:lpstr>before the project ...</vt:lpstr>
      <vt:lpstr>hyperspectral measurements</vt:lpstr>
      <vt:lpstr>how do we get these measurements</vt:lpstr>
      <vt:lpstr>what happens to these measurements?</vt:lpstr>
      <vt:lpstr>why do we use these measurements?</vt:lpstr>
      <vt:lpstr>measurement challenges</vt:lpstr>
      <vt:lpstr>core HyperKey layout</vt:lpstr>
      <vt:lpstr>core HyperKey layout</vt:lpstr>
      <vt:lpstr>HyperKey design principles</vt:lpstr>
      <vt:lpstr>Overall deliverables</vt:lpstr>
      <vt:lpstr>what do you need?</vt:lpstr>
      <vt:lpstr>Goals this week 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2026-03-12T21:46:17Z</dcterms:created>
  <dcterms:modified xsi:type="dcterms:W3CDTF">2026-03-17T02:58:20Z</dcterms:modified>
</cp:coreProperties>
</file>